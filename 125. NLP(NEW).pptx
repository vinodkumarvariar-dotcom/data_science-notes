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56" r:id="rId3"/>
    <p:sldId id="257" r:id="rId4"/>
    <p:sldId id="298" r:id="rId5"/>
    <p:sldId id="299" r:id="rId6"/>
    <p:sldId id="258" r:id="rId7"/>
    <p:sldId id="259" r:id="rId8"/>
    <p:sldId id="260" r:id="rId9"/>
    <p:sldId id="261" r:id="rId10"/>
    <p:sldId id="300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70" r:id="rId19"/>
    <p:sldId id="291" r:id="rId20"/>
    <p:sldId id="292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0850" autoAdjust="0"/>
  </p:normalViewPr>
  <p:slideViewPr>
    <p:cSldViewPr snapToGrid="0">
      <p:cViewPr varScale="1">
        <p:scale>
          <a:sx n="99" d="100"/>
          <a:sy n="99" d="100"/>
        </p:scale>
        <p:origin x="10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083760" y="165240"/>
            <a:ext cx="5593680" cy="186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28600" y="425880"/>
            <a:ext cx="2583720" cy="438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" name="Google Shape;12;p2"/>
          <p:cNvCxnSpPr/>
          <p:nvPr/>
        </p:nvCxnSpPr>
        <p:spPr>
          <a:xfrm flipH="1">
            <a:off x="228600" y="496368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  <p:sp>
        <p:nvSpPr>
          <p:cNvPr id="3" name="Google Shape;13;p2"/>
          <p:cNvSpPr/>
          <p:nvPr/>
        </p:nvSpPr>
        <p:spPr>
          <a:xfrm>
            <a:off x="2530800" y="165240"/>
            <a:ext cx="474840" cy="25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78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3040200" y="39654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3040200" y="23864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3040200" y="161028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3040200" y="31759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5210280" y="2397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5210280" y="3186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5210280" y="39762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5210280" y="16210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" name="Google Shape;68;p13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6935400" cy="1490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6" name="Google Shape;72;p14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029920" cy="199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139040" y="2220840"/>
            <a:ext cx="4294440" cy="27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1" name="Google Shape;77;p15"/>
          <p:cNvCxnSpPr/>
          <p:nvPr/>
        </p:nvCxnSpPr>
        <p:spPr>
          <a:xfrm flipH="1">
            <a:off x="228600" y="473364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30472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457200" y="107244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title"/>
          </p:nvPr>
        </p:nvSpPr>
        <p:spPr>
          <a:xfrm>
            <a:off x="457200" y="353700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457200" y="228600"/>
            <a:ext cx="62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745680" y="293760"/>
            <a:ext cx="2169360" cy="216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6"/>
          <p:cNvSpPr>
            <a:spLocks noGrp="1"/>
          </p:cNvSpPr>
          <p:nvPr>
            <p:ph type="body"/>
          </p:nvPr>
        </p:nvSpPr>
        <p:spPr>
          <a:xfrm>
            <a:off x="6745680" y="2745360"/>
            <a:ext cx="2169360" cy="216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4829400" y="3172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457200" y="3172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457920" y="220644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title"/>
          </p:nvPr>
        </p:nvSpPr>
        <p:spPr>
          <a:xfrm>
            <a:off x="4829400" y="22060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title"/>
          </p:nvPr>
        </p:nvSpPr>
        <p:spPr>
          <a:xfrm>
            <a:off x="457200" y="1233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title"/>
          </p:nvPr>
        </p:nvSpPr>
        <p:spPr>
          <a:xfrm>
            <a:off x="4829400" y="1233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8"/>
          <p:cNvSpPr>
            <a:spLocks noGrp="1"/>
          </p:cNvSpPr>
          <p:nvPr>
            <p:ph type="body"/>
          </p:nvPr>
        </p:nvSpPr>
        <p:spPr>
          <a:xfrm>
            <a:off x="0" y="4006800"/>
            <a:ext cx="9143640" cy="113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46480" y="767160"/>
            <a:ext cx="349344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5421600" y="3148920"/>
            <a:ext cx="349344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080240" y="678240"/>
            <a:ext cx="278892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7054200" y="678240"/>
            <a:ext cx="154296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546480" y="3098880"/>
            <a:ext cx="154296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2280960" y="3098880"/>
            <a:ext cx="278892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17960" y="13104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Google Shape;117;p20"/>
          <p:cNvSpPr/>
          <p:nvPr/>
        </p:nvSpPr>
        <p:spPr>
          <a:xfrm>
            <a:off x="6038640" y="3758760"/>
            <a:ext cx="287640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45" name="Google Shape;118;p20"/>
          <p:cNvCxnSpPr/>
          <p:nvPr/>
        </p:nvCxnSpPr>
        <p:spPr>
          <a:xfrm flipH="1">
            <a:off x="8297640" y="75528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993760" y="3297960"/>
            <a:ext cx="3466800" cy="172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228600" y="36720"/>
            <a:ext cx="222804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628320" y="261720"/>
            <a:ext cx="2286720" cy="461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9" name="Google Shape;19;p3"/>
          <p:cNvSpPr/>
          <p:nvPr/>
        </p:nvSpPr>
        <p:spPr>
          <a:xfrm>
            <a:off x="8594640" y="75600"/>
            <a:ext cx="359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Google Shape;120;p21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122;p22"/>
          <p:cNvCxnSpPr/>
          <p:nvPr/>
        </p:nvCxnSpPr>
        <p:spPr>
          <a:xfrm flipH="1">
            <a:off x="456840" y="4762440"/>
            <a:ext cx="37836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944280"/>
            <a:ext cx="770364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54" name="Google Shape;23;p4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4165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74640" y="302040"/>
            <a:ext cx="2840400" cy="461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title"/>
          </p:nvPr>
        </p:nvSpPr>
        <p:spPr>
          <a:xfrm>
            <a:off x="5913000" y="228600"/>
            <a:ext cx="3002040" cy="854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28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131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086280" y="162000"/>
            <a:ext cx="5590800" cy="186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IN" sz="5400" dirty="0"/>
              <a:t>Natural Language Processing (NLP)</a:t>
            </a:r>
            <a:endParaRPr lang="fr-FR" sz="5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2" name="Google Shape;140;p27"/>
          <p:cNvPicPr/>
          <p:nvPr/>
        </p:nvPicPr>
        <p:blipFill>
          <a:blip r:embed="rId2"/>
          <a:srcRect t="2436" b="2436"/>
          <a:stretch/>
        </p:blipFill>
        <p:spPr>
          <a:xfrm>
            <a:off x="228600" y="255722"/>
            <a:ext cx="2583720" cy="4555318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183;p30"/>
          <p:cNvPicPr/>
          <p:nvPr/>
        </p:nvPicPr>
        <p:blipFill>
          <a:blip r:embed="rId2"/>
          <a:srcRect t="1249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028840" cy="62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800" dirty="0"/>
              <a:t>What is NLP?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301858"/>
            <a:ext cx="4295520" cy="22790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r>
              <a:rPr lang="en-US" sz="1400" dirty="0"/>
              <a:t>NLP stands for Natural Language Processing.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It enables machines to understand, interpret, and respond to human language.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NLP combines linguistics and computer science.</a:t>
            </a:r>
          </a:p>
          <a:p>
            <a:pPr indent="0">
              <a:spcBef>
                <a:spcPts val="1417"/>
              </a:spcBef>
              <a:buNone/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CFFB5-8530-8D71-EB52-1642BE2C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BE4F42F3-F5C1-BDD6-9270-63BF705E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280" y="162000"/>
            <a:ext cx="5590800" cy="186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IN" sz="5400" dirty="0"/>
              <a:t>Applications of NLP</a:t>
            </a:r>
            <a:endParaRPr lang="fr-FR" sz="5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>
            <a:extLst>
              <a:ext uri="{FF2B5EF4-FFF2-40B4-BE49-F238E27FC236}">
                <a16:creationId xmlns:a16="http://schemas.microsoft.com/office/drawing/2014/main" id="{99885DF0-266A-2242-60F2-9C1AED72D47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679902" y="2238479"/>
            <a:ext cx="4920858" cy="249707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r>
              <a:rPr lang="en-IN" sz="1400" dirty="0"/>
              <a:t>Chatbots and Virtual Assistants (e.g., Siri, Alexa)</a:t>
            </a:r>
          </a:p>
          <a:p>
            <a:endParaRPr lang="en-IN" sz="1400" dirty="0"/>
          </a:p>
          <a:p>
            <a:r>
              <a:rPr lang="en-IN" sz="1400" dirty="0"/>
              <a:t>Spam Email Detection</a:t>
            </a:r>
          </a:p>
          <a:p>
            <a:endParaRPr lang="en-IN" sz="1400" dirty="0"/>
          </a:p>
          <a:p>
            <a:r>
              <a:rPr lang="en-IN" sz="1400" dirty="0"/>
              <a:t>Language Translation (e.g., Google Translate)</a:t>
            </a:r>
          </a:p>
          <a:p>
            <a:endParaRPr lang="en-IN" sz="1400" dirty="0"/>
          </a:p>
          <a:p>
            <a:r>
              <a:rPr lang="en-IN" sz="1400" dirty="0"/>
              <a:t>Sentiment Analysis in Reviews</a:t>
            </a:r>
          </a:p>
          <a:p>
            <a:endParaRPr lang="en-IN" sz="1400" dirty="0"/>
          </a:p>
          <a:p>
            <a:r>
              <a:rPr lang="en-IN" sz="1400" dirty="0"/>
              <a:t>Speech Recognition and Voice Commands</a:t>
            </a:r>
          </a:p>
        </p:txBody>
      </p:sp>
      <p:pic>
        <p:nvPicPr>
          <p:cNvPr id="72" name="Google Shape;140;p27">
            <a:extLst>
              <a:ext uri="{FF2B5EF4-FFF2-40B4-BE49-F238E27FC236}">
                <a16:creationId xmlns:a16="http://schemas.microsoft.com/office/drawing/2014/main" id="{33CAE52D-6084-5592-8559-A1DFA7020AE2}"/>
              </a:ext>
            </a:extLst>
          </p:cNvPr>
          <p:cNvPicPr/>
          <p:nvPr/>
        </p:nvPicPr>
        <p:blipFill>
          <a:blip r:embed="rId2"/>
          <a:srcRect t="2436" b="2436"/>
          <a:stretch/>
        </p:blipFill>
        <p:spPr>
          <a:xfrm>
            <a:off x="228600" y="263471"/>
            <a:ext cx="2583720" cy="4547569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893832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8B4FC-6738-A720-230E-D6DBB9F85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>
            <a:extLst>
              <a:ext uri="{FF2B5EF4-FFF2-40B4-BE49-F238E27FC236}">
                <a16:creationId xmlns:a16="http://schemas.microsoft.com/office/drawing/2014/main" id="{63B7E74C-D121-C979-975E-FDB24AF1E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280" y="162000"/>
            <a:ext cx="5590800" cy="70036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3200" dirty="0"/>
              <a:t>NLP Pipeline Overview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>
            <a:extLst>
              <a:ext uri="{FF2B5EF4-FFF2-40B4-BE49-F238E27FC236}">
                <a16:creationId xmlns:a16="http://schemas.microsoft.com/office/drawing/2014/main" id="{457E6974-3ECD-55EA-3D58-71587369D55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679902" y="1325105"/>
            <a:ext cx="4920858" cy="341044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1. Sentence Segmentation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2. Word Tokenization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3. Removing Stop Words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4. Stemming and Lemmatization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5. Part of Speech (POS) Tagging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6. Dependency Parsing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7. Named Entity Recognition (NER)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8. Chunking (Shallow Parsing)</a:t>
            </a:r>
          </a:p>
          <a:p>
            <a:endParaRPr lang="en-IN" sz="1400" dirty="0"/>
          </a:p>
        </p:txBody>
      </p:sp>
      <p:pic>
        <p:nvPicPr>
          <p:cNvPr id="72" name="Google Shape;140;p27">
            <a:extLst>
              <a:ext uri="{FF2B5EF4-FFF2-40B4-BE49-F238E27FC236}">
                <a16:creationId xmlns:a16="http://schemas.microsoft.com/office/drawing/2014/main" id="{B248FE0D-9BA0-73B1-FE92-9CDBC4851983}"/>
              </a:ext>
            </a:extLst>
          </p:cNvPr>
          <p:cNvPicPr/>
          <p:nvPr/>
        </p:nvPicPr>
        <p:blipFill>
          <a:blip r:embed="rId2"/>
          <a:srcRect t="2436" b="2436"/>
          <a:stretch/>
        </p:blipFill>
        <p:spPr>
          <a:xfrm>
            <a:off x="228600" y="240224"/>
            <a:ext cx="2583720" cy="4570816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106138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268361" y="1294108"/>
            <a:ext cx="6058096" cy="22395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Splitting a paragraph into individual sentences.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Example: 'I love NLP. It's fascinating.' → ['I love NLP.', 'It's fascinating.']</a:t>
            </a:r>
            <a:br>
              <a:rPr lang="en-US" sz="2000" dirty="0"/>
            </a:b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title"/>
          </p:nvPr>
        </p:nvSpPr>
        <p:spPr>
          <a:xfrm>
            <a:off x="399584" y="261720"/>
            <a:ext cx="5926873" cy="84650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u="none" strike="noStrike" dirty="0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1.</a:t>
            </a:r>
            <a:r>
              <a:rPr lang="en-IN" sz="2800" dirty="0"/>
              <a:t> Sentence Segmentation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9" name="Google Shape;193;p31"/>
          <p:cNvPicPr/>
          <p:nvPr/>
        </p:nvPicPr>
        <p:blipFill>
          <a:blip r:embed="rId2"/>
          <a:srcRect l="7352" r="7361" b="3615"/>
          <a:stretch/>
        </p:blipFill>
        <p:spPr>
          <a:xfrm>
            <a:off x="6628320" y="89210"/>
            <a:ext cx="2286720" cy="478303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183;p30"/>
          <p:cNvPicPr/>
          <p:nvPr/>
        </p:nvPicPr>
        <p:blipFill>
          <a:blip r:embed="rId2"/>
          <a:srcRect t="1249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028840" cy="76757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800" dirty="0"/>
              <a:t>2. Word Tokenization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319984" y="1091245"/>
            <a:ext cx="5081681" cy="219307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Breaking a sentence into individual words or tokens.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Example: 'I love NLP' → ['I', 'love', 'NLP']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228599" y="1055713"/>
            <a:ext cx="6120161" cy="381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Stop words</a:t>
            </a:r>
            <a:r>
              <a:rPr lang="en-US" sz="2000" dirty="0"/>
              <a:t> are commonly used words in a language that are often filtered out in natural language processing (NLP) because they carry less meaningful information</a:t>
            </a:r>
            <a:br>
              <a:rPr lang="en-US" sz="2000" dirty="0"/>
            </a:br>
            <a:r>
              <a:rPr lang="en-US" sz="2000" dirty="0"/>
              <a:t>EG: is, the, on, at ,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Eliminating common words that add little value to analysis.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Example: ['I', 'am', 'learning', 'NLP'] → ['learning', 'NLP']</a:t>
            </a:r>
            <a:br>
              <a:rPr lang="en-US" sz="2000" dirty="0"/>
            </a:b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title"/>
          </p:nvPr>
        </p:nvSpPr>
        <p:spPr>
          <a:xfrm>
            <a:off x="364273" y="38160"/>
            <a:ext cx="5984487" cy="87623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800" dirty="0"/>
              <a:t>3.Stop Word Removal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076" name="Picture 4" descr="Generated image">
            <a:extLst>
              <a:ext uri="{FF2B5EF4-FFF2-40B4-BE49-F238E27FC236}">
                <a16:creationId xmlns:a16="http://schemas.microsoft.com/office/drawing/2014/main" id="{E58F4F71-80AB-5591-AEE2-1D5A98F8C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1784" y="104078"/>
            <a:ext cx="2480217" cy="484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183;p30"/>
          <p:cNvPicPr/>
          <p:nvPr/>
        </p:nvPicPr>
        <p:blipFill>
          <a:blip r:embed="rId2"/>
          <a:srcRect t="1249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75040" y="228600"/>
            <a:ext cx="5211000" cy="590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400" dirty="0"/>
              <a:t>4.Stemming and Lemmatization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366120" y="818875"/>
            <a:ext cx="5211000" cy="40960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000" b="1" dirty="0"/>
              <a:t>What is Stemming?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Reduces a word to its root form</a:t>
            </a:r>
            <a:r>
              <a:rPr lang="en-US" sz="2000" dirty="0"/>
              <a:t> by chopping off suffixes.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Doesn’t always return a valid word</a:t>
            </a:r>
            <a:r>
              <a:rPr lang="en-US" sz="2000" dirty="0"/>
              <a:t> — just a base 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Fast and rule-based</a:t>
            </a:r>
            <a:r>
              <a:rPr lang="en-US" sz="2000" dirty="0"/>
              <a:t>, used in search engines and basic NLP.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Common stemmers: </a:t>
            </a:r>
            <a:r>
              <a:rPr lang="en-US" sz="2000" b="1" dirty="0"/>
              <a:t>Porter</a:t>
            </a:r>
            <a:r>
              <a:rPr lang="en-US" sz="2000" dirty="0"/>
              <a:t>, </a:t>
            </a:r>
            <a:r>
              <a:rPr lang="en-US" sz="2000" b="1" dirty="0"/>
              <a:t>Snowball</a:t>
            </a:r>
          </a:p>
          <a:p>
            <a:endParaRPr lang="en-US" sz="2000" dirty="0"/>
          </a:p>
          <a:p>
            <a:r>
              <a:rPr lang="en-US" sz="2000" dirty="0"/>
              <a:t>✅ </a:t>
            </a:r>
            <a:r>
              <a:rPr lang="en-US" sz="2000" b="1" dirty="0"/>
              <a:t>Example</a:t>
            </a:r>
            <a:r>
              <a:rPr lang="en-US" sz="2000" dirty="0"/>
              <a:t>:</a:t>
            </a:r>
          </a:p>
          <a:p>
            <a:r>
              <a:rPr lang="en-US" sz="2000" i="1" dirty="0"/>
              <a:t>"playing", "played", "plays"</a:t>
            </a:r>
            <a:r>
              <a:rPr lang="en-US" sz="2000" dirty="0"/>
              <a:t> → </a:t>
            </a:r>
            <a:r>
              <a:rPr lang="en-US" sz="2000" b="1" dirty="0"/>
              <a:t>"play"</a:t>
            </a:r>
            <a:endParaRPr lang="en-US" sz="2000" dirty="0"/>
          </a:p>
          <a:p>
            <a:r>
              <a:rPr lang="en-US" sz="2000" i="1" dirty="0"/>
              <a:t>"running"</a:t>
            </a:r>
            <a:r>
              <a:rPr lang="en-US" sz="2000" dirty="0"/>
              <a:t> → </a:t>
            </a:r>
            <a:r>
              <a:rPr lang="en-US" sz="2000" b="1" dirty="0"/>
              <a:t>"run"</a:t>
            </a:r>
            <a:endParaRPr lang="en-US" sz="2000" dirty="0"/>
          </a:p>
          <a:p>
            <a:r>
              <a:rPr lang="en-US" sz="2000" i="1" dirty="0"/>
              <a:t>"studies"</a:t>
            </a:r>
            <a:r>
              <a:rPr lang="en-US" sz="2000" dirty="0"/>
              <a:t> → </a:t>
            </a:r>
            <a:r>
              <a:rPr lang="en-US" sz="2000" b="1" dirty="0"/>
              <a:t>"</a:t>
            </a:r>
            <a:r>
              <a:rPr lang="en-US" sz="2000" b="1" dirty="0" err="1"/>
              <a:t>studi</a:t>
            </a:r>
            <a:r>
              <a:rPr lang="en-US" sz="2000" b="1" dirty="0"/>
              <a:t>"</a:t>
            </a:r>
            <a:r>
              <a:rPr lang="en-US" sz="2000" dirty="0"/>
              <a:t> (not a valid word)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E59D9-24A5-D3A2-544C-B28585C6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183;p30">
            <a:extLst>
              <a:ext uri="{FF2B5EF4-FFF2-40B4-BE49-F238E27FC236}">
                <a16:creationId xmlns:a16="http://schemas.microsoft.com/office/drawing/2014/main" id="{32EA3D07-94EE-1227-2381-2F64ADAAEDCA}"/>
              </a:ext>
            </a:extLst>
          </p:cNvPr>
          <p:cNvPicPr/>
          <p:nvPr/>
        </p:nvPicPr>
        <p:blipFill>
          <a:blip r:embed="rId2"/>
          <a:srcRect t="1249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PlaceHolder 2">
            <a:extLst>
              <a:ext uri="{FF2B5EF4-FFF2-40B4-BE49-F238E27FC236}">
                <a16:creationId xmlns:a16="http://schemas.microsoft.com/office/drawing/2014/main" id="{B8DE34CC-E7DD-02B4-3CDD-0E254D83CEF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66120" y="139485"/>
            <a:ext cx="5211000" cy="48432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000" b="1" dirty="0"/>
              <a:t>What is Lemmatization?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Reduces words to their dictionary (base) form</a:t>
            </a:r>
            <a:r>
              <a:rPr lang="en-US" sz="2000" dirty="0"/>
              <a:t> called a </a:t>
            </a:r>
            <a:r>
              <a:rPr lang="en-US" sz="2000" i="1" dirty="0"/>
              <a:t>lemma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Returns meaningful words</a:t>
            </a:r>
            <a:r>
              <a:rPr lang="en-US" sz="2000" dirty="0"/>
              <a:t> using grammar rules and vocabulary.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Slower than stemming, but </a:t>
            </a:r>
            <a:r>
              <a:rPr lang="en-US" sz="2000" b="1" dirty="0"/>
              <a:t>more accurate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Requires knowledge of </a:t>
            </a:r>
            <a:r>
              <a:rPr lang="en-US" sz="2000" b="1" dirty="0"/>
              <a:t>part of speech (POS)</a:t>
            </a:r>
            <a:r>
              <a:rPr lang="en-US" sz="2000" dirty="0"/>
              <a:t> for best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✅ </a:t>
            </a:r>
            <a:r>
              <a:rPr lang="en-US" sz="2000" b="1" dirty="0"/>
              <a:t>Example</a:t>
            </a:r>
            <a:r>
              <a:rPr lang="en-US" sz="2000" dirty="0"/>
              <a:t>:</a:t>
            </a:r>
          </a:p>
          <a:p>
            <a:r>
              <a:rPr lang="en-US" sz="2000" i="1" dirty="0"/>
              <a:t>"am", "are", "is"</a:t>
            </a:r>
            <a:r>
              <a:rPr lang="en-US" sz="2000" dirty="0"/>
              <a:t> → </a:t>
            </a:r>
            <a:r>
              <a:rPr lang="en-US" sz="2000" b="1" dirty="0"/>
              <a:t>"be"</a:t>
            </a:r>
            <a:endParaRPr lang="en-US" sz="2000" dirty="0"/>
          </a:p>
          <a:p>
            <a:r>
              <a:rPr lang="en-US" sz="2000" i="1" dirty="0"/>
              <a:t>"better"</a:t>
            </a:r>
            <a:r>
              <a:rPr lang="en-US" sz="2000" dirty="0"/>
              <a:t> → </a:t>
            </a:r>
            <a:r>
              <a:rPr lang="en-US" sz="2000" b="1" dirty="0"/>
              <a:t>"good"</a:t>
            </a:r>
            <a:r>
              <a:rPr lang="en-US" sz="2000" dirty="0"/>
              <a:t> (using POS rules)</a:t>
            </a:r>
          </a:p>
          <a:p>
            <a:r>
              <a:rPr lang="en-US" sz="2000" i="1" dirty="0"/>
              <a:t>"running"</a:t>
            </a:r>
            <a:r>
              <a:rPr lang="en-US" sz="2000" dirty="0"/>
              <a:t> → </a:t>
            </a:r>
            <a:r>
              <a:rPr lang="en-US" sz="2000" b="1" dirty="0"/>
              <a:t>"run"</a:t>
            </a:r>
            <a:endParaRPr lang="en-US" sz="2000" dirty="0"/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4039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169125" y="842933"/>
            <a:ext cx="6038386" cy="40293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Assigning word types (noun, verb, adjective, etc.).</a:t>
            </a:r>
            <a:br>
              <a:rPr lang="en-IN" sz="2200" dirty="0"/>
            </a:br>
            <a:r>
              <a:rPr lang="en-IN" sz="2200" dirty="0"/>
              <a:t>Example: 'Dogs bark loudly' → [('Dogs', Noun), ('bark', Verb), ('loudly', Adverb)]</a:t>
            </a:r>
            <a:br>
              <a:rPr lang="en-IN" sz="2200" dirty="0"/>
            </a:br>
            <a:br>
              <a:rPr lang="en-IN" sz="2200" dirty="0"/>
            </a:br>
            <a:r>
              <a:rPr lang="en-IN" sz="2200" b="1" dirty="0"/>
              <a:t>NN</a:t>
            </a:r>
            <a:r>
              <a:rPr lang="en-IN" sz="2200" dirty="0"/>
              <a:t> – Noun (Singular)</a:t>
            </a:r>
            <a:br>
              <a:rPr lang="en-IN" sz="2200" dirty="0"/>
            </a:br>
            <a:r>
              <a:rPr lang="en-IN" sz="2200" b="1" dirty="0"/>
              <a:t>VB</a:t>
            </a:r>
            <a:r>
              <a:rPr lang="en-IN" sz="2200" dirty="0"/>
              <a:t> – Verb </a:t>
            </a:r>
            <a:br>
              <a:rPr lang="en-IN" sz="2200" dirty="0"/>
            </a:br>
            <a:r>
              <a:rPr lang="en-IN" sz="2200" b="1" dirty="0"/>
              <a:t>JJ</a:t>
            </a:r>
            <a:r>
              <a:rPr lang="en-IN" sz="2200" dirty="0"/>
              <a:t> – Adjective</a:t>
            </a:r>
            <a:br>
              <a:rPr lang="en-IN" sz="2200" dirty="0"/>
            </a:br>
            <a:r>
              <a:rPr lang="en-IN" sz="2200" b="1" dirty="0"/>
              <a:t>RB</a:t>
            </a:r>
            <a:r>
              <a:rPr lang="en-IN" sz="2200" dirty="0"/>
              <a:t> – Adverb</a:t>
            </a:r>
            <a:br>
              <a:rPr lang="en-IN" sz="2200" dirty="0"/>
            </a:br>
            <a:r>
              <a:rPr lang="en-IN" sz="2200" b="1" dirty="0"/>
              <a:t>IN</a:t>
            </a:r>
            <a:r>
              <a:rPr lang="en-IN" sz="2200" dirty="0"/>
              <a:t>-Prepositions </a:t>
            </a:r>
            <a:br>
              <a:rPr lang="en-IN" sz="2200" dirty="0"/>
            </a:br>
            <a:br>
              <a:rPr lang="en-IN" sz="2200" dirty="0"/>
            </a:br>
            <a:br>
              <a:rPr lang="en-IN" sz="2400" dirty="0"/>
            </a:br>
            <a:br>
              <a:rPr lang="en-IN" sz="2400" dirty="0"/>
            </a:b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title"/>
          </p:nvPr>
        </p:nvSpPr>
        <p:spPr>
          <a:xfrm>
            <a:off x="341971" y="38160"/>
            <a:ext cx="5806067" cy="68295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400" dirty="0"/>
              <a:t>5.Part-of-Speech (POS) Tagging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3" name="Google Shape;193;p31"/>
          <p:cNvPicPr/>
          <p:nvPr/>
        </p:nvPicPr>
        <p:blipFill>
          <a:blip r:embed="rId2"/>
          <a:srcRect l="7352" r="7361" b="3615"/>
          <a:stretch/>
        </p:blipFill>
        <p:spPr>
          <a:xfrm>
            <a:off x="6628320" y="133815"/>
            <a:ext cx="2286720" cy="4738425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183;p30"/>
          <p:cNvPicPr/>
          <p:nvPr/>
        </p:nvPicPr>
        <p:blipFill>
          <a:blip r:embed="rId2"/>
          <a:srcRect t="1249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82498" y="228600"/>
            <a:ext cx="5203542" cy="80474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800" dirty="0"/>
              <a:t>6. Dependency Parsing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282498" y="1145047"/>
            <a:ext cx="5203542" cy="214846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/>
              <a:t>Analyzing</a:t>
            </a:r>
            <a:r>
              <a:rPr lang="en-IN" sz="2000" dirty="0"/>
              <a:t> grammatical structure of a sentence.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Identifies subject, object, modifiers, etc</a:t>
            </a:r>
            <a:r>
              <a:rPr lang="en-IN" sz="2400" dirty="0"/>
              <a:t>.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2"/>
          <p:cNvSpPr>
            <a:spLocks noGrp="1"/>
          </p:cNvSpPr>
          <p:nvPr>
            <p:ph type="title"/>
          </p:nvPr>
        </p:nvSpPr>
        <p:spPr>
          <a:xfrm>
            <a:off x="438616" y="774915"/>
            <a:ext cx="5752958" cy="393377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200" dirty="0"/>
              <a:t>Detects entities like names, places, organizations, dates. 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Example: 'Apple Inc. was founded in 1976.' → [Apple Inc.: ORG, 1976: DATE]</a:t>
            </a:r>
            <a:br>
              <a:rPr lang="en-US" sz="2200" dirty="0"/>
            </a:br>
            <a:br>
              <a:rPr lang="en-US" sz="2200" dirty="0"/>
            </a:br>
            <a:r>
              <a:rPr lang="en-US" sz="2200" b="1" u="sng" dirty="0"/>
              <a:t>Common NER Categories:</a:t>
            </a:r>
            <a:br>
              <a:rPr lang="en-US" sz="2200" b="1" u="sng" dirty="0"/>
            </a:br>
            <a:br>
              <a:rPr lang="en-US" sz="2200" b="1" dirty="0"/>
            </a:br>
            <a:r>
              <a:rPr lang="en-US" sz="2200" b="1" dirty="0"/>
              <a:t>PERSON</a:t>
            </a:r>
            <a:r>
              <a:rPr lang="en-US" sz="2200" dirty="0"/>
              <a:t> – Names of people</a:t>
            </a:r>
            <a:br>
              <a:rPr lang="en-US" sz="2200" dirty="0"/>
            </a:br>
            <a:r>
              <a:rPr lang="en-US" sz="2200" b="1" dirty="0"/>
              <a:t>ORG</a:t>
            </a:r>
            <a:r>
              <a:rPr lang="en-US" sz="2200" dirty="0"/>
              <a:t> – Organizations/companies</a:t>
            </a:r>
            <a:br>
              <a:rPr lang="en-US" sz="2200" dirty="0"/>
            </a:br>
            <a:r>
              <a:rPr lang="en-US" sz="2200" b="1" dirty="0"/>
              <a:t>GPE</a:t>
            </a:r>
            <a:r>
              <a:rPr lang="en-US" sz="2200" dirty="0"/>
              <a:t> – Countries, states, cities</a:t>
            </a:r>
            <a:br>
              <a:rPr lang="en-US" sz="2200" dirty="0"/>
            </a:br>
            <a:r>
              <a:rPr lang="en-US" sz="2200" b="1" dirty="0"/>
              <a:t>DATE</a:t>
            </a:r>
            <a:r>
              <a:rPr lang="en-US" sz="2200" dirty="0"/>
              <a:t> – Dates/times</a:t>
            </a:r>
            <a:br>
              <a:rPr lang="en-US" sz="2200" dirty="0"/>
            </a:br>
            <a:r>
              <a:rPr lang="en-US" sz="2200" b="1" dirty="0"/>
              <a:t>MONEY</a:t>
            </a:r>
            <a:r>
              <a:rPr lang="en-US" sz="2200" dirty="0"/>
              <a:t> – Monetary values</a:t>
            </a:r>
            <a:br>
              <a:rPr lang="en-US" sz="22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title"/>
          </p:nvPr>
        </p:nvSpPr>
        <p:spPr>
          <a:xfrm>
            <a:off x="228600" y="38160"/>
            <a:ext cx="6229080" cy="57887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400" dirty="0"/>
              <a:t>7. Named Entity Recognition (NER)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0" name="Google Shape;193;p31"/>
          <p:cNvPicPr/>
          <p:nvPr/>
        </p:nvPicPr>
        <p:blipFill>
          <a:blip r:embed="rId2"/>
          <a:srcRect l="7352" r="7361" b="3615"/>
          <a:stretch/>
        </p:blipFill>
        <p:spPr>
          <a:xfrm>
            <a:off x="6628680" y="96644"/>
            <a:ext cx="2286720" cy="46938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228600" y="924543"/>
            <a:ext cx="5808967" cy="361299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just"/>
            <a:r>
              <a:rPr lang="en" sz="2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Chunking groups words into meaningful phrases, such as noun phrases and verb phrases, simplifying further analysis of sentence contents.</a:t>
            </a:r>
            <a:br>
              <a:rPr lang="en" sz="2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</a:br>
            <a:br>
              <a:rPr lang="en" sz="2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</a:br>
            <a:br>
              <a:rPr lang="en-US" sz="2000" b="1" dirty="0"/>
            </a:br>
            <a:br>
              <a:rPr lang="en-US" sz="2000" dirty="0"/>
            </a:br>
            <a:br>
              <a:rPr lang="en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</a:br>
            <a:br>
              <a:rPr lang="en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</a:br>
            <a:br>
              <a:rPr lang="en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</a:br>
            <a:br>
              <a:rPr lang="en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</a:br>
            <a:br>
              <a:rPr lang="en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</a:br>
            <a:br>
              <a:rPr lang="en" sz="20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</a:br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endParaRPr lang="fr-FR" sz="1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4070B-F00F-961E-0365-9A8043A3C736}"/>
              </a:ext>
            </a:extLst>
          </p:cNvPr>
          <p:cNvSpPr txBox="1"/>
          <p:nvPr/>
        </p:nvSpPr>
        <p:spPr>
          <a:xfrm>
            <a:off x="234175" y="245327"/>
            <a:ext cx="4887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8. CHUNKING</a:t>
            </a:r>
            <a:endParaRPr lang="en-IN" sz="2800" dirty="0"/>
          </a:p>
        </p:txBody>
      </p:sp>
      <p:pic>
        <p:nvPicPr>
          <p:cNvPr id="2" name="Google Shape;193;p31">
            <a:extLst>
              <a:ext uri="{FF2B5EF4-FFF2-40B4-BE49-F238E27FC236}">
                <a16:creationId xmlns:a16="http://schemas.microsoft.com/office/drawing/2014/main" id="{BED1330C-C6B6-DEEA-6F2C-48A3EC130369}"/>
              </a:ext>
            </a:extLst>
          </p:cNvPr>
          <p:cNvPicPr/>
          <p:nvPr/>
        </p:nvPicPr>
        <p:blipFill>
          <a:blip r:embed="rId2"/>
          <a:srcRect l="7352" r="7361" b="3615"/>
          <a:stretch/>
        </p:blipFill>
        <p:spPr>
          <a:xfrm>
            <a:off x="6628680" y="96644"/>
            <a:ext cx="2286720" cy="46938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93;p31"/>
          <p:cNvPicPr/>
          <p:nvPr/>
        </p:nvPicPr>
        <p:blipFill>
          <a:blip r:embed="rId2"/>
          <a:srcRect l="7352" r="7361" b="3615"/>
          <a:stretch/>
        </p:blipFill>
        <p:spPr>
          <a:xfrm>
            <a:off x="6628320" y="92990"/>
            <a:ext cx="2286720" cy="47792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FE989E-5081-2AEE-75E0-411EDFCD77C4}"/>
              </a:ext>
            </a:extLst>
          </p:cNvPr>
          <p:cNvSpPr txBox="1"/>
          <p:nvPr/>
        </p:nvSpPr>
        <p:spPr>
          <a:xfrm>
            <a:off x="304990" y="153233"/>
            <a:ext cx="613455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Sentence:</a:t>
            </a:r>
            <a:br>
              <a:rPr lang="en-US" sz="2000" b="1" dirty="0"/>
            </a:br>
            <a:r>
              <a:rPr lang="en-US" sz="2000" dirty="0"/>
              <a:t>“The tall girl smiled.”</a:t>
            </a:r>
            <a:br>
              <a:rPr lang="en-US" sz="2000" b="1" dirty="0"/>
            </a:br>
            <a:endParaRPr lang="en-US" sz="2000" dirty="0"/>
          </a:p>
          <a:p>
            <a:r>
              <a:rPr lang="en-IN" sz="2000" b="1" dirty="0"/>
              <a:t>POS Tags: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The/DT (Determiner)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tall/JJ (Adjective)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girl/NN (Noun – Singular)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smiled/VBD (Verb – Past Tense)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US" sz="2000" b="1" dirty="0"/>
              <a:t>After Chunking (Noun Phrase – NP):</a:t>
            </a:r>
          </a:p>
          <a:p>
            <a:r>
              <a:rPr lang="en-US" sz="2000" dirty="0"/>
              <a:t>[NP The tall girl] smiled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"The tall girl"</a:t>
            </a:r>
            <a:r>
              <a:rPr lang="en-US" sz="2000" dirty="0"/>
              <a:t> is grouped as a </a:t>
            </a:r>
            <a:r>
              <a:rPr lang="en-US" sz="2000" b="1" dirty="0"/>
              <a:t>Noun Phrase (NP)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"smiled"</a:t>
            </a:r>
            <a:r>
              <a:rPr lang="en-US" sz="2000" dirty="0"/>
              <a:t> remains outside as a </a:t>
            </a:r>
            <a:r>
              <a:rPr lang="en-US" sz="2000" b="1" dirty="0"/>
              <a:t>Verb</a:t>
            </a:r>
            <a:endParaRPr lang="en-IN" sz="2000" dirty="0"/>
          </a:p>
          <a:p>
            <a:endParaRPr lang="en-IN" sz="20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7730CC-DB95-093C-EEBC-93D832703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501002"/>
              </p:ext>
            </p:extLst>
          </p:nvPr>
        </p:nvGraphicFramePr>
        <p:xfrm>
          <a:off x="635914" y="669332"/>
          <a:ext cx="7872171" cy="3804835"/>
        </p:xfrm>
        <a:graphic>
          <a:graphicData uri="http://schemas.openxmlformats.org/drawingml/2006/table">
            <a:tbl>
              <a:tblPr/>
              <a:tblGrid>
                <a:gridCol w="2624057">
                  <a:extLst>
                    <a:ext uri="{9D8B030D-6E8A-4147-A177-3AD203B41FA5}">
                      <a16:colId xmlns:a16="http://schemas.microsoft.com/office/drawing/2014/main" val="2447910844"/>
                    </a:ext>
                  </a:extLst>
                </a:gridCol>
                <a:gridCol w="2624057">
                  <a:extLst>
                    <a:ext uri="{9D8B030D-6E8A-4147-A177-3AD203B41FA5}">
                      <a16:colId xmlns:a16="http://schemas.microsoft.com/office/drawing/2014/main" val="3715577951"/>
                    </a:ext>
                  </a:extLst>
                </a:gridCol>
                <a:gridCol w="2624057">
                  <a:extLst>
                    <a:ext uri="{9D8B030D-6E8A-4147-A177-3AD203B41FA5}">
                      <a16:colId xmlns:a16="http://schemas.microsoft.com/office/drawing/2014/main" val="3093017975"/>
                    </a:ext>
                  </a:extLst>
                </a:gridCol>
              </a:tblGrid>
              <a:tr h="509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Chunk Label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Phrase Type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357897"/>
                  </a:ext>
                </a:extLst>
              </a:tr>
              <a:tr h="509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NP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Noun Phrase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[The tall girl]</a:t>
                      </a:r>
                      <a:r>
                        <a:rPr lang="en-IN" dirty="0"/>
                        <a:t> smiled.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795332"/>
                  </a:ext>
                </a:extLst>
              </a:tr>
              <a:tr h="774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VP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Verb Phrase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The girl [has been running]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21301"/>
                  </a:ext>
                </a:extLst>
              </a:tr>
              <a:tr h="774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PP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Prepositional Phrase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The cat is [under the table].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262694"/>
                  </a:ext>
                </a:extLst>
              </a:tr>
              <a:tr h="509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ADJP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Adjective Phrase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She is [very smart].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21647"/>
                  </a:ext>
                </a:extLst>
              </a:tr>
              <a:tr h="727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ADVP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Adverb Phrase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He spoke [very clearly].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65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83;p30"/>
          <p:cNvPicPr/>
          <p:nvPr/>
        </p:nvPicPr>
        <p:blipFill>
          <a:blip r:embed="rId2"/>
          <a:srcRect t="1249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22219" y="118203"/>
            <a:ext cx="5176074" cy="98026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dirty="0">
                <a:solidFill>
                  <a:schemeClr val="dk1"/>
                </a:solidFill>
              </a:rPr>
              <a:t>Additional Important NLP Steps (Often Used in Advanced NLP or Downstream Tasks):</a:t>
            </a:r>
            <a:br>
              <a:rPr lang="en-US" sz="2600" b="1" dirty="0">
                <a:solidFill>
                  <a:schemeClr val="dk1"/>
                </a:solidFill>
              </a:rPr>
            </a:br>
            <a:endParaRPr lang="fr-FR" sz="26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5EB224-180D-89F4-AA7C-9CCA62CDC760}"/>
              </a:ext>
            </a:extLst>
          </p:cNvPr>
          <p:cNvSpPr txBox="1"/>
          <p:nvPr/>
        </p:nvSpPr>
        <p:spPr>
          <a:xfrm>
            <a:off x="236167" y="1208868"/>
            <a:ext cx="511849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Text Normalization</a:t>
            </a:r>
          </a:p>
          <a:p>
            <a:endParaRPr lang="en-US" dirty="0"/>
          </a:p>
          <a:p>
            <a:r>
              <a:rPr lang="en-US" dirty="0"/>
              <a:t>Lowercasing, removing punctuation, correcting typos.</a:t>
            </a:r>
          </a:p>
          <a:p>
            <a:r>
              <a:rPr lang="en-US" dirty="0"/>
              <a:t>E.g., "HELLO!!!" → "hello"</a:t>
            </a:r>
          </a:p>
          <a:p>
            <a:endParaRPr lang="en-US" dirty="0"/>
          </a:p>
          <a:p>
            <a:r>
              <a:rPr lang="en-US" b="1" u="sng" dirty="0"/>
              <a:t>Text Vectorization / Embedding</a:t>
            </a:r>
          </a:p>
          <a:p>
            <a:endParaRPr lang="en-US" dirty="0"/>
          </a:p>
          <a:p>
            <a:r>
              <a:rPr lang="en-US" dirty="0"/>
              <a:t>Converting text into numerical format for machine learning.</a:t>
            </a:r>
          </a:p>
          <a:p>
            <a:r>
              <a:rPr lang="en-US" dirty="0"/>
              <a:t>Methods: Bag-of-Words, TF-IDF, Word2Vec, </a:t>
            </a:r>
            <a:r>
              <a:rPr lang="en-US" dirty="0" err="1"/>
              <a:t>GloVe</a:t>
            </a:r>
            <a:r>
              <a:rPr lang="en-US" dirty="0"/>
              <a:t>, BERT embeddings, etc.</a:t>
            </a:r>
          </a:p>
          <a:p>
            <a:endParaRPr lang="en-US" dirty="0"/>
          </a:p>
          <a:p>
            <a:endParaRPr lang="en-IN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93;p31"/>
          <p:cNvPicPr/>
          <p:nvPr/>
        </p:nvPicPr>
        <p:blipFill>
          <a:blip r:embed="rId2"/>
          <a:srcRect l="7352" r="7361" b="3615"/>
          <a:stretch/>
        </p:blipFill>
        <p:spPr>
          <a:xfrm>
            <a:off x="6682566" y="106737"/>
            <a:ext cx="2286720" cy="477522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11D3EF-3CC4-4ADE-8902-B148FBE44FC6}"/>
              </a:ext>
            </a:extLst>
          </p:cNvPr>
          <p:cNvSpPr txBox="1"/>
          <p:nvPr/>
        </p:nvSpPr>
        <p:spPr>
          <a:xfrm>
            <a:off x="557939" y="581821"/>
            <a:ext cx="56568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Coreference Resolution</a:t>
            </a:r>
          </a:p>
          <a:p>
            <a:endParaRPr lang="en-US" dirty="0"/>
          </a:p>
          <a:p>
            <a:r>
              <a:rPr lang="en-US" dirty="0"/>
              <a:t>Identifying when different words refer to the same entity.</a:t>
            </a:r>
          </a:p>
          <a:p>
            <a:endParaRPr lang="en-US" dirty="0"/>
          </a:p>
          <a:p>
            <a:r>
              <a:rPr lang="en-US" dirty="0"/>
              <a:t>E.g., "Mary went to the store. She bought milk." → She = Mary</a:t>
            </a:r>
          </a:p>
          <a:p>
            <a:endParaRPr lang="en-US" dirty="0"/>
          </a:p>
          <a:p>
            <a:r>
              <a:rPr lang="en-US" b="1" u="sng" dirty="0"/>
              <a:t>Sentiment Analysis</a:t>
            </a:r>
          </a:p>
          <a:p>
            <a:endParaRPr lang="en-US" dirty="0"/>
          </a:p>
          <a:p>
            <a:r>
              <a:rPr lang="en-US" dirty="0"/>
              <a:t>Detecting emotional tone of the text (positive, negative, neutral).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1"/>
          <p:cNvPicPr/>
          <p:nvPr/>
        </p:nvPicPr>
        <p:blipFill>
          <a:blip r:embed="rId2"/>
          <a:srcRect l="7352" r="7361" b="3615"/>
          <a:stretch/>
        </p:blipFill>
        <p:spPr>
          <a:xfrm>
            <a:off x="6628320" y="100739"/>
            <a:ext cx="2286720" cy="477150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FAED9B-EAEC-5BB8-C4B0-C0227D0A4FB2}"/>
              </a:ext>
            </a:extLst>
          </p:cNvPr>
          <p:cNvSpPr txBox="1"/>
          <p:nvPr/>
        </p:nvSpPr>
        <p:spPr>
          <a:xfrm>
            <a:off x="379708" y="557939"/>
            <a:ext cx="5943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Language Detection</a:t>
            </a:r>
          </a:p>
          <a:p>
            <a:endParaRPr lang="en-US" dirty="0"/>
          </a:p>
          <a:p>
            <a:r>
              <a:rPr lang="en-US" dirty="0"/>
              <a:t>Identifying which language the text is in (English, Spanish, etc.).</a:t>
            </a:r>
          </a:p>
          <a:p>
            <a:endParaRPr lang="en-US" dirty="0"/>
          </a:p>
          <a:p>
            <a:r>
              <a:rPr lang="en-US" b="1" u="sng" dirty="0"/>
              <a:t>Topic Modeling / Text Classification</a:t>
            </a:r>
          </a:p>
          <a:p>
            <a:endParaRPr lang="en-US" dirty="0"/>
          </a:p>
          <a:p>
            <a:r>
              <a:rPr lang="en-US" dirty="0"/>
              <a:t>Grouping or categorizing text by topics or labels.</a:t>
            </a:r>
          </a:p>
          <a:p>
            <a:endParaRPr lang="en-US" dirty="0"/>
          </a:p>
          <a:p>
            <a:r>
              <a:rPr lang="en-US" b="1" u="sng" dirty="0"/>
              <a:t>Keyword Extraction / </a:t>
            </a:r>
            <a:r>
              <a:rPr lang="en-US" b="1" u="sng" dirty="0" err="1"/>
              <a:t>Keyphrase</a:t>
            </a:r>
            <a:r>
              <a:rPr lang="en-US" b="1" u="sng" dirty="0"/>
              <a:t> Extraction</a:t>
            </a:r>
          </a:p>
          <a:p>
            <a:endParaRPr lang="en-US" dirty="0"/>
          </a:p>
          <a:p>
            <a:r>
              <a:rPr lang="en-US" dirty="0"/>
              <a:t>Identifying most important words/phrases in a document.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83;p30"/>
          <p:cNvPicPr/>
          <p:nvPr/>
        </p:nvPicPr>
        <p:blipFill>
          <a:blip r:embed="rId2"/>
          <a:srcRect t="1249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F33A18A-D2ED-CDB1-C565-0EAAB72A4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69" y="406829"/>
            <a:ext cx="5029920" cy="1991520"/>
          </a:xfrm>
        </p:spPr>
        <p:txBody>
          <a:bodyPr/>
          <a:lstStyle/>
          <a:p>
            <a:r>
              <a:rPr lang="en-US" sz="2400" dirty="0"/>
              <a:t>THANK YOU</a:t>
            </a:r>
            <a:endParaRPr lang="en-IN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Launches by Slidesgo">
  <a:themeElements>
    <a:clrScheme name="Simple Light">
      <a:dk1>
        <a:srgbClr val="191919"/>
      </a:dk1>
      <a:lt1>
        <a:srgbClr val="EEEEEE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4168</TotalTime>
  <Words>935</Words>
  <Application>Microsoft Office PowerPoint</Application>
  <PresentationFormat>On-screen Show (16:9)</PresentationFormat>
  <Paragraphs>131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</vt:lpstr>
      <vt:lpstr>OpenSymbol</vt:lpstr>
      <vt:lpstr>Radio Canada Big</vt:lpstr>
      <vt:lpstr>Symbol</vt:lpstr>
      <vt:lpstr>Wingdings</vt:lpstr>
      <vt:lpstr>Technology Launches by Slidesgo</vt:lpstr>
      <vt:lpstr>Slidesgo Final Pages</vt:lpstr>
      <vt:lpstr>Natural Language Processing (NLP)</vt:lpstr>
      <vt:lpstr>What is NLP?</vt:lpstr>
      <vt:lpstr>Applications of NLP</vt:lpstr>
      <vt:lpstr>NLP Pipeline Overview</vt:lpstr>
      <vt:lpstr>Splitting a paragraph into individual sentences.  Example: 'I love NLP. It's fascinating.' → ['I love NLP.', 'It's fascinating.'] </vt:lpstr>
      <vt:lpstr>2. Word Tokenization</vt:lpstr>
      <vt:lpstr>Stop words are commonly used words in a language that are often filtered out in natural language processing (NLP) because they carry less meaningful information EG: is, the, on, at ,etc…  Eliminating common words that add little value to analysis.  Example: ['I', 'am', 'learning', 'NLP'] → ['learning', 'NLP'] </vt:lpstr>
      <vt:lpstr>4.Stemming and Lemmatization</vt:lpstr>
      <vt:lpstr>PowerPoint Presentation</vt:lpstr>
      <vt:lpstr>Assigning word types (noun, verb, adjective, etc.). Example: 'Dogs bark loudly' → [('Dogs', Noun), ('bark', Verb), ('loudly', Adverb)]  NN – Noun (Singular) VB – Verb  JJ – Adjective RB – Adverb IN-Prepositions     </vt:lpstr>
      <vt:lpstr>6. Dependency Parsing</vt:lpstr>
      <vt:lpstr>    Detects entities like names, places, organizations, dates.   Example: 'Apple Inc. was founded in 1976.' → [Apple Inc.: ORG, 1976: DATE]  Common NER Categories:  PERSON – Names of people ORG – Organizations/companies GPE – Countries, states, cities DATE – Dates/times MONEY – Monetary values     </vt:lpstr>
      <vt:lpstr>Chunking groups words into meaningful phrases, such as noun phrases and verb phrases, simplifying further analysis of sentence contents.             </vt:lpstr>
      <vt:lpstr>PowerPoint Presentation</vt:lpstr>
      <vt:lpstr>PowerPoint Presentation</vt:lpstr>
      <vt:lpstr>Additional Important NLP Steps (Often Used in Advanced NLP or Downstream Tasks): </vt:lpstr>
      <vt:lpstr>PowerPoint Presentation</vt:lpstr>
      <vt:lpstr>PowerPoint Presentation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Varadha D</dc:creator>
  <cp:lastModifiedBy>Varadha D</cp:lastModifiedBy>
  <cp:revision>8</cp:revision>
  <dcterms:modified xsi:type="dcterms:W3CDTF">2025-07-26T10:30:22Z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2025-07-12T11:03:52Z</dcterms:created>
  <dc:creator>Unknown Creator</dc:creator>
  <dc:description/>
  <dc:language>en-US</dc:language>
  <cp:lastModifiedBy>Unknown Creator</cp:lastModifiedBy>
  <dcterms:modified xsi:type="dcterms:W3CDTF">2025-07-12T11:03:52Z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41</vt:r8>
  </property>
</Properties>
</file>